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STAJ PROJESİ BİTİRME SUNUMU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Apartman ve Site Yönetim Sistemi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Flutter &amp; Clean Architecture ile Çok Rolü Mobil Uygulama Geliştirme</a:t>
            </a:r>
          </a:p>
          <a:p>
            <a:br/>
            <a:br/>
            <a:pPr>
              <a:defRPr sz="1300">
                <a:solidFill>
                  <a:srgbClr val="94A3B8"/>
                </a:solidFill>
              </a:defRPr>
            </a:pPr>
            <a:r>
              <a:t>Stajyer: Ali Osman Yeşilçayır  |  Süreç: 20 İş Günü  |  Teknoloji: Flutter / Dart / BLoC / Maestro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GİRİŞ &amp; MOTİVASYON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 Amacı ve Çözülen Problemler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Geleneksel apartman yönetim süreçlerinin dijitalleştirilmesi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Geleneksel Yönetim Problemleri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• Manuel Takip &amp; Hatalar: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Aidat, borç ve kasa hareketlerinin Excel/defterlerde tutulması sonucu oluşan veri kayıpları.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• İletişim Kopukluğu: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Arıza ve bakım taleplerinin WhatsApp veya sözlü iletilmesi, takipsizlik ve gecikmelere yol açması.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• Şeffaflık Eksikliği: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Sakinlerin geçmiş ödemelerini, kasa gelir/gider durumunu ve duyuruları anlık görememesi.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• Görev Dağılımı Karmaşası: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Site personeline iş atama ve tamamlanan işlerin raporlanmasında denetim eksikliği.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Geliştirilen Mobil Çözüm</a:t>
            </a:r>
          </a:p>
          <a:p>
            <a:pPr>
              <a:defRPr b="1" sz="1300">
                <a:solidFill>
                  <a:srgbClr val="2563EB"/>
                </a:solidFill>
              </a:defRPr>
            </a:pPr>
            <a:r>
              <a:t>✓ 3 Farklı Rol &amp; Tek Platform: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Yönetici, Personel ve Sakin (Malik/Kiracı) rollerine özel dinamik arayüzler.</a:t>
            </a:r>
          </a:p>
          <a:p>
            <a:pPr>
              <a:defRPr b="1" sz="1300">
                <a:solidFill>
                  <a:srgbClr val="2563EB"/>
                </a:solidFill>
              </a:defRPr>
            </a:pPr>
            <a:r>
              <a:t>✓ Uçtan Uca Finans Yönetimi: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Aidat dönemi oluşturma, borçlandırma, tahsilat ve gelir/gider kasa takibi.</a:t>
            </a:r>
          </a:p>
          <a:p>
            <a:pPr>
              <a:defRPr b="1" sz="1300">
                <a:solidFill>
                  <a:srgbClr val="2563EB"/>
                </a:solidFill>
              </a:defRPr>
            </a:pPr>
            <a:r>
              <a:t>✓ Canlı Bakım &amp; Arıza Döngüsü: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Sakin talep açar -&gt; Yönetici personele atar -&gt; Personel not ve fotoğrafla tamamlar.</a:t>
            </a:r>
          </a:p>
          <a:p>
            <a:pPr>
              <a:defRPr b="1" sz="1300">
                <a:solidFill>
                  <a:srgbClr val="2563EB"/>
                </a:solidFill>
              </a:defRPr>
            </a:pPr>
            <a:r>
              <a:t>✓ Merkezi İletişim &amp; Döküman: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Duyurular, PDF/belge arşivi ve anlık bildirim sistemi.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SİSTEM MİMARİSİ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Kullanıcı Rolleri ve Yetki Ayrımı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Rol bazlı erişim kontrolü (RBAC) ile veri izolasyonu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YÖNETİCİ (Manager)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Mülk Yönetimi (Apartman, Blok, Daire)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Sakin ve Kullanıcı Tanımlama / Yetkilendirme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Kira Sözleşmesi Oluşturma &amp; Yönetme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Aidat Dönemi ve Borçlandırma İşlemleri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Gelir / Gider Kasa İşlemleri &amp; Raporlama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Bakım Taleplerini İnceleme ve Personele Atama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Duyuru Yayınlama &amp; Döküman Yükleme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PERSONEL (Staff)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Kendisine Atanan İşleri Görüntüleme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İş Durumunu Güncelleme (İşlemde / Çözüldü)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Personel Notu ve Fotoğraf Ekleyerek Bitirme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Tamamlanan İşler Geçmişini İnceleme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Günlük İstatistikler &amp; Özet Kartlar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Profil Bilgileri &amp; Şifre Değiştirme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SAKİN (Malik / Kiracı)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Kendi Dairesine Ait Bilgileri İnceleme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Güncel Aidat Borcu ve Ödeme Geçmişi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Dairesi / Ortak Alan İçin Arıza Bildirimi Açma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Bildirilen Talebin Durumunu Canlı İzleme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Site Yönetim Dökümanlarına Erişim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Yayınlanan Duyuruları Okuma &amp; Bildirimler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TEKNOLOJİ YIĞINI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Kullanılan Teknolojiler ve Kütüphaneler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Modern, ölçeklenebilir ve kurumsal seviyede mobil teknoloji yığını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Flutter 3.x &amp; Dart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Cross-Platform Framework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Tek kod tabanı ile hem iOS hem Android için native performans ve pixel-perfect 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73152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745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333EA"/>
                </a:solidFill>
              </a:defRPr>
            </a:pPr>
            <a:r>
              <a:t>Flutter BLoC &amp; Cubit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State Management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İş mantığı (Business Logic) ile arayüzü birbirinden ayıran, öngörülebilir durum yönetimi.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745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Dio &amp; Interceptors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Ağ Katmanı (Network)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JWT Bearer token otomatik ekleme, merkezi hata yakalama ve multipart dosya yükleme.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383280" cy="7315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A580C"/>
                </a:solidFill>
              </a:defRPr>
            </a:pPr>
            <a:r>
              <a:t>GoRouter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Dinamik Yönlendirme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Rol bazlı StatefulShellRoute altyapısı, deep linking ve güvenli sayfa geçişleri.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3832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1605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get_it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Bağımlılık Enjeksiyonu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Katmanlar arası bağımlılıkları tek bir Service Locator üzerinden gevşek bağlı (loose coupling) yönetme.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0" y="3931920"/>
            <a:ext cx="3383280" cy="731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1605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11D48"/>
                </a:solidFill>
              </a:defRPr>
            </a:pPr>
            <a:r>
              <a:t>Maestro E2E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Otomasyon &amp; Test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Uygulamanın tüm kritik akışlarını gerçek cihaz üzerinde test eden uçtan uca UI otomasyonu.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YAZILIM MİMARİSİ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Clean Architecture &amp; Katmanlı Tasarım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Bakımı kolay, test edilebilir ve sürdürülebilir kod standartları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1. Presentation Layer (Arayüz)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UI Ekranları (Pages &amp; Views)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Yeniden Kullanılabilir Widget Bileşenleri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Cubit &amp; State Sınıfları (Durum Yönetimi)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Kullanıcı etkileşimlerini dinleme ve UI render etme</a:t>
            </a:r>
          </a:p>
          <a:p>
            <a:br/>
            <a:pPr>
              <a:defRPr sz="1100" i="1">
                <a:solidFill>
                  <a:srgbClr val="64748B"/>
                </a:solidFill>
              </a:defRPr>
            </a:pPr>
            <a:r>
              <a:t>Fayda: Bir katmanda yapılan değişiklik diğer katmanları bozmaz.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2. Domain Layer (İş Kuralları)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Saf Dart Modelleri (Entities)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Repository Arayüzleri (Abstract Contracts)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İş Mantığı &amp; Validasyon Kuralları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Dış kütüphanelerden ve framework'ten tamamen bağımsız</a:t>
            </a:r>
          </a:p>
          <a:p>
            <a:br/>
            <a:pPr>
              <a:defRPr sz="1100" i="1">
                <a:solidFill>
                  <a:srgbClr val="64748B"/>
                </a:solidFill>
              </a:defRPr>
            </a:pPr>
            <a:r>
              <a:t>Fayda: Bir katmanda yapılan değişiklik diğer katmanları bozmaz.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3. Data Layer (Veri Katmanı)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Data Transfer Objects (DTO) &amp; JSON Serialization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Remote Data Sources (Dio HTTP API Çağrıları)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Local Storage (flutter_secure_storage)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Repository Implementasyonları</a:t>
            </a:r>
          </a:p>
          <a:p>
            <a:br/>
            <a:pPr>
              <a:defRPr sz="1100" i="1">
                <a:solidFill>
                  <a:srgbClr val="64748B"/>
                </a:solidFill>
              </a:defRPr>
            </a:pPr>
            <a:r>
              <a:t>Fayda: Bir katmanda yapılan değişiklik diğer katmanları bozmaz.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ÖZELLİKLER &amp; MODÜLLER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Geliştirilen Temel Modüller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Gerçek hayat senaryolarına tam uyumlu 4 ana fonksiyonel modül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Mülk &amp; Sakin Yönetimi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Site, Blok ve Daire tanımlama (CRUD)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Kat Maliki ve Kiracı profilleri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Dinamik Kira Sözleşmesi oluşturma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Daire çoğaltma ve hızlı kopyalama özellikleri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1206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Finans &amp; Aidat Yönetimi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Aylık Aidat Dönemi (Due Period) kurgusu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Daire bazlı borç yansıtma ve tahsilat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Site kasası Gelir / Gider kayıtları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Kategori bazlı harcama ve fatura girişi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Bakım &amp; Arıza Yönetimi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Kategori bazlı arıza bildirimi (Asansör, Tesisat vb.)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Yöneticiden personele anlık iş atama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Personel için fotoğraf &amp; not ile tamamlama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Açık -&gt; İşlemde -&gt; Tamamlandı canlı durum akışı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3931920"/>
            <a:ext cx="51206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İletişim &amp; Döküman Modülü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Yönetici duyuru yayınlama sistemi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Sakinler için PDF &amp; karar dökümanları arşivi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FCM Device Token ile push bildirim altyapısı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Kullanıcı profil ve şifre değiştirme ayarları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KALİTE GÜVENCESİ &amp;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Maestro E2E Otomasyon Testleri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Uygulamanın 3 farklı rolü için sıfır hatayla çalışan UI test senaryoları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Yönetici E2E Testi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04_manager_e2e.yaml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Kimlik doğrulama &amp; Dashboard yükleme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6 Ana sekmede (Mülk, Finans, Hizmetler vb.) tam gezinme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Apartman çoğaltma ve daire listeleme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Yeni Bakım Talebi oluşturma &amp; Ali Kaya'ya atama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Güvenli çıkış yapma doğrulaması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Personel E2E Testi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05_staff_e2e.yaml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Personel (Ali Kaya) girişi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Atanan işler listesinde görevi bulma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İş detayında açıklama notu girme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'İşi Tamamla' butonu ile durumu güncelleme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Tamamlananlar sekmesinde doğrulanması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Sakin E2E Testi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06_resident_e2e.yaml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Kat Maliki / Kiracı girişi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Daire bilgileri ve borç durumu inceleme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Duyurular ve dökümanlar listesi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Yeni arıza talebi oluşturma akışı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Profil ayarları ve oturum kapatma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MÜHENDİSLİK ÇÖZÜMLERİ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Karşılaşılan Teknik Zorluklar ve Çözümler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Geliştirme sürecinde çözülen kritik mühendislik problemleri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7315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580C"/>
                </a:solidFill>
              </a:defRPr>
            </a:pPr>
            <a:r>
              <a:t>Zorluk 1: Sayfalar Arası Veri Senkronizasyonu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Problem: Bir sayfada yapılan güncellemenin (örn: işi tamamlama veya yeni borç ekleme) geri dönüldüğünde listede anında görünmemesi.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Çözüm: MaintenanceCubit ve FinanceCubit içine Optimistic Update ve sayfadan çıkışlarda (pop sonrası) otomatik fetch tetikleyicileri eklendi.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698480" cy="73152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333EA"/>
                </a:solidFill>
              </a:defRPr>
            </a:pPr>
            <a:r>
              <a:t>Zorluk 2: Backend DRF Uyumsuzlukları (400 Bad Request)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Problem: Backend servisinin beklediği alan isimleri (staff_note, status vb.) ile mobil payload arasındaki uyumsuzluklar.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Çözüm: Remote Data Source seviyesinde veri normalizasyonu yapılarak Türkçe/İngilizce statü eşleşmeleri sanitize edildi.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6984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8920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Zorluk 3: Jest Çakışmaları ve Maestro Koordinat Dayanıklılığı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Problem: Cihaz kenar kaydırmalarında Android sistem geri jestinin devreye girmesi ve ekran boyutuna bağlı koordinat kaymaları.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Çözüm: Güvenli ekran merkez koordinatları (50%, 65% -&gt; 50%, 35%) ve Regex tabanlı erişilebilirlik eşleşmeleri ile testler %100 kararlı hale getirildi.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DEĞERLENDİRME &amp; KAZANIMLAR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Staj Sürecinin Bana Kattıkları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Teknik ve profesyonel alanda elde edilen temel yetkinlikler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Endüstriyel Flutter Yetkinliği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Clean Architecture prensiplerini gerçek bir projede baştan sona uygulayarak kurumsal seviyede kod mimarisi kurma deneyimi.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73152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333EA"/>
                </a:solidFill>
              </a:defRPr>
            </a:pPr>
            <a:r>
              <a:t>State Management Hakimiyeti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BLoC/Cubit desenini karmaşık veri modelleri, listeler ve asenkron API çağrılarında profesyonelce yönetme becerisi.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REST API &amp; Güvenlik Entegrasyonu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Dio Interceptors, JWT Token yaşam döngüsü, Secure Storage ve multipart veri transferi süreçlerinde derinlemesine tecrübe.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383280" cy="731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Otomasyon ve Test Kültürü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Maestro ile UI/E2E test senaryoları yazarak regresyonları önleme ve sürekli entegrasyon (CI) bakış açısı kazanma.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383280" cy="7315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580C"/>
                </a:solidFill>
              </a:defRPr>
            </a:pPr>
            <a:r>
              <a:t>Ürün Odaklı Problem Çözme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Farklı kullanıcı kitlelerinin (Yönetici, Personel, Sakin) ihtiyaçlarına göre UX tasarlama ve pratik mühendislik çözümleri üretme.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0" y="3931920"/>
            <a:ext cx="3383280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Hata Ayıklama (Debugging) Refleksi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Log analizi, ağ isteklerinin izlenmesi ve UI hiyerarşisi inceleyerek karmaşık hataları hızlıca izole edip çözme yeteneği.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GELECEK GELİŞTİRMELER VE SONUÇ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Teşekkür Ederim</a:t>
            </a:r>
          </a:p>
          <a:p>
            <a:br/>
            <a:pPr>
              <a:defRPr sz="1600" b="1">
                <a:solidFill>
                  <a:srgbClr val="CBD5E1"/>
                </a:solidFill>
              </a:defRPr>
            </a:pPr>
            <a:r>
              <a:t>Gelecekte Eklenebilecek Özellikler: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Online Ödeme Entegrasyonu (İyzico / PayTR ile kredi kartıyla anlık aidat ödeme)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Akıllı Sayaç (IoT) Entegrasyonu ile elektrik/su sayaçlarının otomatik okunması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Site İçi Sosyal Tesis (Havuz, Spor Salonu) Rezervasyon Modülü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Yapay Zeka Destekli Yönetici Asistanı (Otomatik bütçe ve bakım raporu hazırlama)</a:t>
            </a:r>
          </a:p>
          <a:p>
            <a:br/>
            <a:pPr>
              <a:defRPr sz="1800" b="1">
                <a:solidFill>
                  <a:srgbClr val="60A5FA"/>
                </a:solidFill>
              </a:defRPr>
            </a:pPr>
            <a:r>
              <a:t>Sorularınız ve Geri Bildirimleriniz?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